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9" r:id="rId9"/>
    <p:sldId id="265" r:id="rId10"/>
    <p:sldId id="264" r:id="rId11"/>
    <p:sldId id="272" r:id="rId12"/>
    <p:sldId id="273" r:id="rId13"/>
    <p:sldId id="274" r:id="rId14"/>
    <p:sldId id="277" r:id="rId15"/>
    <p:sldId id="275" r:id="rId16"/>
    <p:sldId id="278" r:id="rId17"/>
    <p:sldId id="276" r:id="rId18"/>
    <p:sldId id="280" r:id="rId19"/>
    <p:sldId id="267" r:id="rId20"/>
    <p:sldId id="266" r:id="rId21"/>
    <p:sldId id="268" r:id="rId22"/>
    <p:sldId id="270" r:id="rId23"/>
    <p:sldId id="271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5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235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7705" y="330200"/>
            <a:ext cx="9144000" cy="830580"/>
          </a:xfrm>
        </p:spPr>
        <p:txBody>
          <a:bodyPr/>
          <a:lstStyle/>
          <a:p>
            <a:pPr algn="l"/>
            <a:r>
              <a:rPr lang="en-US" altLang="zh-CN" sz="3200"/>
              <a:t>2026/8/14  </a:t>
            </a:r>
            <a:r>
              <a:rPr lang="zh-CN" altLang="en-US" sz="2800"/>
              <a:t>马翔宇</a:t>
            </a:r>
            <a:r>
              <a:rPr lang="en-US" altLang="zh-CN" sz="2800"/>
              <a:t> </a:t>
            </a:r>
            <a:r>
              <a:rPr lang="zh-CN" altLang="en-US" sz="2800"/>
              <a:t>袁致豪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5980" y="1661795"/>
            <a:ext cx="1091311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读论文（</a:t>
            </a:r>
            <a:r>
              <a:rPr lang="en-US" altLang="zh-CN" sz="2400"/>
              <a:t>VIDI</a:t>
            </a:r>
            <a:r>
              <a:rPr lang="zh-CN" altLang="en-US" sz="2400"/>
              <a:t>、</a:t>
            </a:r>
            <a:r>
              <a:rPr lang="en-US" altLang="zh-CN" sz="2400"/>
              <a:t>Zoomie</a:t>
            </a:r>
            <a:r>
              <a:rPr lang="zh-CN" altLang="en-US" sz="2400"/>
              <a:t>、</a:t>
            </a:r>
            <a:r>
              <a:rPr lang="en-US" altLang="zh-CN" sz="2400"/>
              <a:t>flashattention</a:t>
            </a:r>
            <a:r>
              <a:rPr lang="zh-CN" altLang="en-US" sz="2400"/>
              <a:t>）</a:t>
            </a: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和老师讨论有哪些方面可以做</a:t>
            </a: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目前准备先复现开源的 </a:t>
            </a:r>
            <a:r>
              <a:rPr lang="en-US" altLang="zh-CN" sz="2400"/>
              <a:t>VirtIO-FPGA </a:t>
            </a:r>
            <a:r>
              <a:rPr lang="zh-CN" altLang="en-US" sz="2400"/>
              <a:t>项目。（该项目将虚拟机中的 </a:t>
            </a:r>
            <a:r>
              <a:rPr lang="en-US" altLang="zh-CN" sz="2400"/>
              <a:t>Linux/VirtIO </a:t>
            </a:r>
            <a:r>
              <a:rPr lang="zh-CN" altLang="en-US" sz="2400"/>
              <a:t>驱动与仿真器中的 </a:t>
            </a:r>
            <a:r>
              <a:rPr lang="en-US" altLang="zh-CN" sz="2400"/>
              <a:t>FPGA </a:t>
            </a:r>
            <a:r>
              <a:rPr lang="zh-CN" altLang="en-US" sz="2400"/>
              <a:t>硬件逻辑连接起来，用于在 </a:t>
            </a:r>
            <a:r>
              <a:rPr lang="en-US" altLang="zh-CN" sz="2400"/>
              <a:t>FPGA </a:t>
            </a:r>
            <a:r>
              <a:rPr lang="zh-CN" altLang="en-US" sz="2400"/>
              <a:t>上板前进行软硬件联合调试。）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260" y="169545"/>
            <a:ext cx="2066290" cy="610235"/>
          </a:xfrm>
        </p:spPr>
        <p:txBody>
          <a:bodyPr/>
          <a:lstStyle/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2026/8/21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74395" y="871855"/>
            <a:ext cx="10144125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马翔宇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QEMU-Verilator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联合仿真环境搭建，并已跑通当前上板对应配置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NVMe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</a:t>
            </a:r>
            <a:br>
              <a:rPr lang="zh-CN" altLang="en-US" sz="2600"/>
            </a:br>
            <a:endParaRPr lang="zh-CN" altLang="en-US" sz="2600"/>
          </a:p>
        </p:txBody>
      </p:sp>
      <p:sp>
        <p:nvSpPr>
          <p:cNvPr id="13" name="文本框 12"/>
          <p:cNvSpPr txBox="1"/>
          <p:nvPr/>
        </p:nvSpPr>
        <p:spPr>
          <a:xfrm>
            <a:off x="874395" y="3429000"/>
            <a:ext cx="1014412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袁致豪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ym typeface="+mn-ea"/>
              </a:rPr>
              <a:t>本周完成了HPU参数与激励生成、Verilator模型构建，并搭建和跑通了基于WSL、QEMU虚拟PCIe及ZeroMQ通信的软硬件联合仿真环境</a:t>
            </a:r>
            <a:endParaRPr lang="en-US" altLang="zh-CN" sz="2400" dirty="0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读刘澳师兄，云海师兄论文，了解师兄们做的工作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260" y="169545"/>
            <a:ext cx="2066290" cy="610235"/>
          </a:xfrm>
        </p:spPr>
        <p:txBody>
          <a:bodyPr/>
          <a:lstStyle/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2026/8/28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74395" y="871855"/>
            <a:ext cx="10144125" cy="3324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马翔宇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复现嘉润师兄的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SCOPE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项目，已经在服务器上搭建并初步跑通，目前在理解各部分的代码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NVME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完成联合仿真环境向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HPU v1.2.0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的迁移适配，并实现与当前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RTL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版本和配置的对齐。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600"/>
          </a:p>
        </p:txBody>
      </p:sp>
      <p:sp>
        <p:nvSpPr>
          <p:cNvPr id="3" name="文本框 2"/>
          <p:cNvSpPr txBox="1"/>
          <p:nvPr/>
        </p:nvSpPr>
        <p:spPr>
          <a:xfrm>
            <a:off x="874395" y="4126230"/>
            <a:ext cx="1014412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袁致豪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本周主要阅读了樊金昊和刘云海师兄的硕士论文，了解一下</a:t>
            </a:r>
            <a:r>
              <a:rPr lang="en-US" altLang="zh-CN" sz="2400">
                <a:sym typeface="+mn-ea"/>
              </a:rPr>
              <a:t>VSCODOR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SUDA，</a:t>
            </a:r>
            <a:r>
              <a:rPr lang="zh-CN" altLang="en-US" sz="2400">
                <a:sym typeface="+mn-ea"/>
              </a:rPr>
              <a:t>了解</a:t>
            </a:r>
            <a:r>
              <a:rPr lang="en-US" altLang="zh-CN" sz="2400">
                <a:sym typeface="+mn-ea"/>
              </a:rPr>
              <a:t>csd</a:t>
            </a:r>
            <a:r>
              <a:rPr lang="zh-CN" altLang="en-US" sz="2400">
                <a:sym typeface="+mn-ea"/>
              </a:rPr>
              <a:t>的一些概念，了解程辉师兄的项目，准备复现他的实验，来帮助程辉师兄写论文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260" y="169545"/>
            <a:ext cx="2066290" cy="610235"/>
          </a:xfrm>
        </p:spPr>
        <p:txBody>
          <a:bodyPr/>
          <a:lstStyle/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2026/9/4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68045" y="871855"/>
            <a:ext cx="10150475" cy="2296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马翔宇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梳理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RDMA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远端设备架构，跑通基于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RDMA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的远端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访问链路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测量本地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NVMe、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及远端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的控制寄存器写延迟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当前正在测试本地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NVMe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I/O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60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556260" y="3375025"/>
            <a:ext cx="2066290" cy="610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2026/9/10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68045" y="3911600"/>
            <a:ext cx="10150475" cy="2651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马翔宇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完成本机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NVMe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的控制链路延迟及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I/O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性能测试，并整理分析测试结果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下一步测试香山访问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nm37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板卡所连接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NVMe、NIC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设备时的性能表现，并与本机设备测试结果进行对比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307465" y="2028190"/>
          <a:ext cx="9429750" cy="261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写</a:t>
                      </a:r>
                      <a:r>
                        <a:rPr lang="en-US" altLang="zh-CN" sz="2400"/>
                        <a:t>BAR</a:t>
                      </a:r>
                      <a:r>
                        <a:rPr lang="zh-CN" altLang="en-US" sz="240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有效请求的门铃提交延迟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30.15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61.41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6.20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 44.42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07465" y="455295"/>
            <a:ext cx="3259455" cy="624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b="1"/>
              <a:t>控制通路延迟</a:t>
            </a:r>
          </a:p>
          <a:p>
            <a:endParaRPr lang="zh-CN" altLang="en-US" sz="3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00150" y="56515"/>
            <a:ext cx="317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数据通路性能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206500" y="795020"/>
          <a:ext cx="95834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测试项目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13.52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12.34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176.41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140.62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香山 → 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56.65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241 → 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46.82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cs typeface="+mn-lt"/>
                          <a:sym typeface="+mn-ea"/>
                        </a:rPr>
                        <a:t>NIC</a:t>
                      </a:r>
                      <a:endParaRPr lang="en-US" altLang="zh-CN" sz="2000" b="0" i="0">
                        <a:solidFill>
                          <a:srgbClr val="CCCCCC"/>
                        </a:solidFill>
                        <a:ea typeface="-apple-system"/>
                        <a:cs typeface="+mn-lt"/>
                        <a:sym typeface="+mn-ea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UDP：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 → 241</a:t>
                      </a:r>
                      <a:endParaRPr lang="en-US" altLang="zh-CN" sz="2000" b="0" i="0">
                        <a:cs typeface="+mn-lt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4.90Mbit/s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UDP:   241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→</a:t>
                      </a:r>
                      <a:r>
                        <a:rPr lang="en-US" altLang="zh-CN" sz="2000">
                          <a:cs typeface="+mn-lt"/>
                          <a:sym typeface="+mn-ea"/>
                        </a:rPr>
                        <a:t>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7.75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2.80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1875" y="0"/>
            <a:ext cx="9027160" cy="311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/>
              <a:t>软件定义外设拓扑</a:t>
            </a:r>
            <a:br>
              <a:rPr lang="zh-CN" altLang="en-US" sz="2800" b="1"/>
            </a:br>
            <a:r>
              <a:rPr lang="zh-CN" altLang="en-US" sz="2800" b="1"/>
              <a:t>面向硅前原型的软件定义外设环境</a:t>
            </a:r>
            <a:br>
              <a:rPr lang="zh-CN" altLang="en-US" sz="2800" b="1"/>
            </a:br>
            <a:r>
              <a:rPr lang="zh-CN" altLang="en-US" sz="2800" b="1"/>
              <a:t>软件定义的外设复合体</a:t>
            </a:r>
            <a:r>
              <a:rPr lang="en-US" altLang="zh-CN" sz="2800" b="1"/>
              <a:t>sdrc</a:t>
            </a:r>
            <a:br>
              <a:rPr lang="en-US" altLang="zh-CN" sz="2800" b="1"/>
            </a:br>
            <a:r>
              <a:rPr lang="zh-CN" altLang="en-US" sz="2800" b="1"/>
              <a:t>软件定义外设的真实访问</a:t>
            </a:r>
            <a:br>
              <a:rPr lang="zh-CN" altLang="en-US" sz="2800" b="1"/>
            </a:br>
            <a:r>
              <a:rPr lang="zh-CN" altLang="en-US" sz="2800" b="1"/>
              <a:t>面向硅前原型的真实外设的软件定义框架</a:t>
            </a:r>
            <a:r>
              <a:rPr lang="en-US" altLang="zh-CN"/>
              <a:t>	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11150" y="1509395"/>
            <a:ext cx="11729085" cy="3068955"/>
            <a:chOff x="310" y="2847"/>
            <a:chExt cx="18471" cy="4833"/>
          </a:xfrm>
        </p:grpSpPr>
        <p:grpSp>
          <p:nvGrpSpPr>
            <p:cNvPr id="15" name="组合 14"/>
            <p:cNvGrpSpPr/>
            <p:nvPr/>
          </p:nvGrpSpPr>
          <p:grpSpPr>
            <a:xfrm>
              <a:off x="310" y="2847"/>
              <a:ext cx="18471" cy="4833"/>
              <a:chOff x="310" y="1612"/>
              <a:chExt cx="18471" cy="4833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310" y="1612"/>
                <a:ext cx="18471" cy="4021"/>
                <a:chOff x="543" y="354"/>
                <a:chExt cx="18471" cy="4021"/>
              </a:xfrm>
            </p:grpSpPr>
            <p:sp>
              <p:nvSpPr>
                <p:cNvPr id="6" name="文本框 5"/>
                <p:cNvSpPr txBox="1"/>
                <p:nvPr/>
              </p:nvSpPr>
              <p:spPr>
                <a:xfrm>
                  <a:off x="543" y="1858"/>
                  <a:ext cx="11605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/>
                    <a:t>FPGA </a:t>
                  </a:r>
                  <a:r>
                    <a:rPr lang="zh-CN" altLang="en-US" sz="2000"/>
                    <a:t>原型能验证什么 </a:t>
                  </a:r>
                  <a:r>
                    <a:rPr lang="en-US" altLang="zh-CN" sz="2000"/>
                    <a:t>I/O </a:t>
                  </a:r>
                  <a:r>
                    <a:rPr lang="zh-CN" altLang="en-US" sz="2000"/>
                    <a:t>系统，很大程度上受板卡物理接口限制</a:t>
                  </a: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12655" y="354"/>
                  <a:ext cx="6359" cy="40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/>
                    <a:t>插槽数量有限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/>
                    <a:t>设备类型受板卡限制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/>
                    <a:t>更换拓扑可能需要重新接线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/>
                    <a:t>可能需要额外 </a:t>
                  </a:r>
                  <a:r>
                    <a:rPr lang="en-US" altLang="zh-CN" sz="2000"/>
                    <a:t>PCIe </a:t>
                  </a:r>
                  <a:r>
                    <a:rPr lang="zh-CN" altLang="en-US" sz="2000"/>
                    <a:t>硬件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真实外设可能位于 </a:t>
                  </a:r>
                  <a:r>
                    <a:rPr lang="en-US" altLang="zh-CN" sz="2000" strike="sngStrike">
                      <a:highlight>
                        <a:srgbClr val="FFFF00"/>
                      </a:highlight>
                    </a:rPr>
                    <a:t>FPGA </a:t>
                  </a: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所在 </a:t>
                  </a:r>
                  <a:r>
                    <a:rPr lang="en-US" altLang="zh-CN" sz="2000" strike="sngStrike">
                      <a:highlight>
                        <a:srgbClr val="FFFF00"/>
                      </a:highlight>
                    </a:rPr>
                    <a:t>Host，</a:t>
                  </a: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也可能位于其他</a:t>
                  </a:r>
                  <a:r>
                    <a:rPr lang="zh-CN" altLang="en-US" sz="2000" b="1" strike="sngStrike">
                      <a:highlight>
                        <a:srgbClr val="FFFF00"/>
                      </a:highlight>
                    </a:rPr>
                    <a:t>远端</a:t>
                  </a: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 </a:t>
                  </a:r>
                  <a:r>
                    <a:rPr lang="en-US" altLang="zh-CN" sz="2000" strike="sngStrike">
                      <a:highlight>
                        <a:srgbClr val="FFFF00"/>
                      </a:highlight>
                    </a:rPr>
                    <a:t>Host，</a:t>
                  </a: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均没有直接挂在 </a:t>
                  </a:r>
                  <a:r>
                    <a:rPr lang="en-US" altLang="zh-CN" sz="2000" strike="sngStrike">
                      <a:highlight>
                        <a:srgbClr val="FFFF00"/>
                      </a:highlight>
                    </a:rPr>
                    <a:t>DUT Root Complex </a:t>
                  </a:r>
                  <a:r>
                    <a:rPr lang="zh-CN" altLang="en-US" sz="2000" strike="sngStrike">
                      <a:highlight>
                        <a:srgbClr val="FFFF00"/>
                      </a:highlight>
                    </a:rPr>
                    <a:t>下</a:t>
                  </a:r>
                  <a:r>
                    <a:rPr lang="zh-CN" altLang="en-US" sz="2000">
                      <a:highlight>
                        <a:srgbClr val="FFFF00"/>
                      </a:highlight>
                    </a:rPr>
                    <a:t>。</a:t>
                  </a:r>
                </a:p>
              </p:txBody>
            </p:sp>
            <p:sp>
              <p:nvSpPr>
                <p:cNvPr id="8" name="左大括号 7"/>
                <p:cNvSpPr/>
                <p:nvPr/>
              </p:nvSpPr>
              <p:spPr>
                <a:xfrm>
                  <a:off x="12295" y="438"/>
                  <a:ext cx="452" cy="3542"/>
                </a:xfrm>
                <a:prstGeom prst="lef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" name="文本框 8"/>
              <p:cNvSpPr txBox="1"/>
              <p:nvPr/>
            </p:nvSpPr>
            <p:spPr>
              <a:xfrm>
                <a:off x="310" y="5905"/>
                <a:ext cx="17953" cy="5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2000"/>
                  <a:t>即使能够远程访问真实设备，也不意味着 </a:t>
                </a:r>
                <a:r>
                  <a:rPr lang="en-US" altLang="zh-CN" sz="2000"/>
                  <a:t>DUT </a:t>
                </a:r>
                <a:r>
                  <a:rPr lang="zh-CN" altLang="en-US" sz="2000"/>
                  <a:t>的操作系统能把它当成一个正常的本地外设。</a:t>
                </a: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315" y="3072"/>
              <a:ext cx="159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/>
                <a:t>困难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64490" y="4973320"/>
            <a:ext cx="10729595" cy="1212850"/>
            <a:chOff x="491" y="6290"/>
            <a:chExt cx="16897" cy="1910"/>
          </a:xfrm>
        </p:grpSpPr>
        <p:sp>
          <p:nvSpPr>
            <p:cNvPr id="12" name="文本框 11"/>
            <p:cNvSpPr txBox="1"/>
            <p:nvPr/>
          </p:nvSpPr>
          <p:spPr>
            <a:xfrm>
              <a:off x="491" y="6290"/>
              <a:ext cx="136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/>
                <a:t>根源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1" y="7572"/>
              <a:ext cx="1689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/>
                <a:t>DUT </a:t>
              </a:r>
              <a:r>
                <a:rPr lang="zh-CN" altLang="en-US" sz="2000"/>
                <a:t>可见的逻辑外设拓扑与真实设备的物理连接和部署位置绑定得太死。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13690" y="632460"/>
            <a:ext cx="1012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需求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1150" y="1110615"/>
            <a:ext cx="10092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FPGA pre-silicon validation </a:t>
            </a:r>
            <a:r>
              <a:rPr lang="zh-CN" altLang="en-US" sz="2000"/>
              <a:t>越来越需要运行真实 </a:t>
            </a:r>
            <a:r>
              <a:rPr lang="en-US" altLang="zh-CN" sz="2000"/>
              <a:t>OS、driver </a:t>
            </a:r>
            <a:r>
              <a:rPr lang="zh-CN" altLang="en-US" sz="2000"/>
              <a:t>和真实 </a:t>
            </a:r>
            <a:r>
              <a:rPr lang="en-US" altLang="zh-CN" sz="2000"/>
              <a:t>I/O workload。</a:t>
            </a:r>
          </a:p>
        </p:txBody>
      </p:sp>
      <p:sp>
        <p:nvSpPr>
          <p:cNvPr id="22" name="下箭头 21"/>
          <p:cNvSpPr/>
          <p:nvPr/>
        </p:nvSpPr>
        <p:spPr>
          <a:xfrm>
            <a:off x="4361180" y="3258185"/>
            <a:ext cx="227965" cy="582295"/>
          </a:xfrm>
          <a:prstGeom prst="down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5600" y="200660"/>
            <a:ext cx="866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解决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55600" y="976630"/>
            <a:ext cx="11045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trike="sngStrike"/>
              <a:t>通过软件定义外设拓扑，将 </a:t>
            </a:r>
            <a:r>
              <a:rPr lang="en-US" altLang="zh-CN" sz="2000" strike="sngStrike"/>
              <a:t>DUT </a:t>
            </a:r>
            <a:r>
              <a:rPr lang="zh-CN" altLang="en-US" sz="2000" strike="sngStrike"/>
              <a:t>可见的</a:t>
            </a:r>
            <a:r>
              <a:rPr lang="zh-CN" altLang="en-US" sz="2000" strike="sngStrike">
                <a:sym typeface="+mn-ea"/>
              </a:rPr>
              <a:t>逻辑外设拓扑</a:t>
            </a:r>
            <a:r>
              <a:rPr lang="zh-CN" altLang="en-US" sz="2000" strike="sngStrike"/>
              <a:t>与真实外设的物理连接及部署位置</a:t>
            </a:r>
            <a:r>
              <a:rPr lang="zh-CN" altLang="en-US" sz="2000" b="1" strike="sngStrike"/>
              <a:t>解耦</a:t>
            </a:r>
            <a:r>
              <a:rPr lang="zh-CN" altLang="en-US" sz="2000" strike="sngStrike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5600" y="2160270"/>
            <a:ext cx="10808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通过设备呈现–实现解耦与控制–数据通路分离，实现面向 </a:t>
            </a:r>
            <a:r>
              <a:rPr lang="en-US" altLang="zh-CN" sz="2000"/>
              <a:t>DUT </a:t>
            </a:r>
            <a:r>
              <a:rPr lang="zh-CN" altLang="en-US" sz="2000"/>
              <a:t>的软件定义 外设拓扑虚拟化。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5600" y="3343910"/>
            <a:ext cx="103079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设备呈现–设备实现解耦</a:t>
            </a:r>
            <a:r>
              <a:rPr lang="en-US" altLang="zh-CN" sz="2000"/>
              <a:t>：</a:t>
            </a:r>
            <a:r>
              <a:rPr lang="zh-CN" altLang="en-US" sz="2000"/>
              <a:t>将 </a:t>
            </a:r>
            <a:r>
              <a:rPr lang="en-US" altLang="zh-CN" sz="2000"/>
              <a:t>DUT </a:t>
            </a:r>
            <a:r>
              <a:rPr lang="zh-CN" altLang="en-US" sz="2000"/>
              <a:t>可见的逻辑 </a:t>
            </a:r>
            <a:r>
              <a:rPr lang="en-US" altLang="zh-CN" sz="2000"/>
              <a:t>PCIe </a:t>
            </a:r>
            <a:r>
              <a:rPr lang="zh-CN" altLang="en-US" sz="2000"/>
              <a:t>身份与物理设备的位置和实现方式分离，实现逻辑–物理解耦、后端可替换与位置透明性。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5600" y="4835525"/>
            <a:ext cx="10618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控制–数据通路分离</a:t>
            </a:r>
            <a:r>
              <a:rPr lang="en-US" altLang="zh-CN" sz="2000"/>
              <a:t>：</a:t>
            </a:r>
            <a:r>
              <a:rPr lang="zh-CN" altLang="en-US" sz="2000"/>
              <a:t>将设备控制语义处理与大块数据传输分离，使控制面保持可编程性，同时数据面保持高效直通传输。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51835" y="15151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定义前后的效果，定义前配置不灵活等配置后灵活可扩展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85240" y="3060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交互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0695" y="316865"/>
            <a:ext cx="54114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/>
              <a:t>软件定义外设</a:t>
            </a:r>
            <a:r>
              <a:rPr lang="en-US" altLang="zh-CN" sz="2600" b="1"/>
              <a:t> </a:t>
            </a:r>
            <a:r>
              <a:rPr lang="zh-CN" altLang="en-US" sz="2600" b="1"/>
              <a:t>拓扑带来的能力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0695" y="1014730"/>
            <a:ext cx="112845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核心</a:t>
            </a:r>
            <a:r>
              <a:rPr lang="zh-CN" altLang="en-US" sz="2000"/>
              <a:t>：逻辑外设拓扑与真实设备的物理连接及部署位置解耦。</a:t>
            </a:r>
            <a:r>
              <a:rPr lang="en-US" altLang="zh-CN" sz="2000"/>
              <a:t>DUT </a:t>
            </a:r>
            <a:r>
              <a:rPr lang="zh-CN" altLang="en-US" sz="2000"/>
              <a:t>看到什么外设拓扑，不再由真实设备物理接在哪里、部署在哪台 </a:t>
            </a:r>
            <a:r>
              <a:rPr lang="en-US" altLang="zh-CN" sz="2000"/>
              <a:t>Host </a:t>
            </a:r>
            <a:r>
              <a:rPr lang="zh-CN" altLang="en-US" sz="2000"/>
              <a:t>上决定。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36220" y="1653540"/>
            <a:ext cx="9211310" cy="1358265"/>
            <a:chOff x="757" y="2281"/>
            <a:chExt cx="14506" cy="2139"/>
          </a:xfrm>
        </p:grpSpPr>
        <p:sp>
          <p:nvSpPr>
            <p:cNvPr id="6" name="文本框 5"/>
            <p:cNvSpPr txBox="1"/>
            <p:nvPr/>
          </p:nvSpPr>
          <p:spPr>
            <a:xfrm>
              <a:off x="757" y="3036"/>
              <a:ext cx="1143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/>
                <a:t>（</a:t>
              </a:r>
              <a:r>
                <a:rPr lang="en-US" altLang="zh-CN" sz="2000"/>
                <a:t>“</a:t>
              </a:r>
              <a:r>
                <a:rPr lang="zh-CN" altLang="en-US" sz="2000"/>
                <a:t>看到</a:t>
              </a:r>
              <a:r>
                <a:rPr lang="en-US" altLang="zh-CN" sz="2000"/>
                <a:t>”</a:t>
              </a:r>
              <a:r>
                <a:rPr lang="zh-CN" altLang="en-US" sz="2000"/>
                <a:t>）让真实设备真正进入 </a:t>
              </a:r>
              <a:r>
                <a:rPr lang="en-US" altLang="zh-CN" sz="2000"/>
                <a:t>DUT </a:t>
              </a:r>
              <a:r>
                <a:rPr lang="zh-CN" altLang="en-US" sz="2000"/>
                <a:t>的外设系统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285" y="2281"/>
              <a:ext cx="4978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/>
                <a:t>能枚举到</a:t>
              </a:r>
              <a:br>
                <a:rPr lang="zh-CN" altLang="en-US" sz="2000"/>
              </a:br>
              <a:r>
                <a:rPr lang="zh-CN" altLang="en-US" sz="2000"/>
                <a:t>能加载</a:t>
              </a:r>
              <a:r>
                <a:rPr lang="en-US" altLang="zh-CN" sz="2000"/>
                <a:t>Linux</a:t>
              </a:r>
              <a:r>
                <a:rPr lang="zh-CN" altLang="en-US" sz="2000"/>
                <a:t>驱动</a:t>
              </a:r>
              <a:br>
                <a:rPr lang="zh-CN" altLang="en-US" sz="2000"/>
              </a:br>
              <a:r>
                <a:rPr lang="zh-CN" altLang="en-US" sz="2000"/>
                <a:t>能正常操作</a:t>
              </a:r>
              <a:br>
                <a:rPr lang="zh-CN" altLang="en-US" sz="2000"/>
              </a:br>
              <a:r>
                <a:rPr lang="zh-CN" altLang="en-US" sz="2000"/>
                <a:t>能正常使用</a:t>
              </a:r>
              <a:r>
                <a:rPr lang="en-US" altLang="zh-CN" sz="2000"/>
                <a:t>fio/iperf</a:t>
              </a:r>
              <a:r>
                <a:rPr lang="zh-CN" altLang="en-US" sz="2000"/>
                <a:t>等测试</a:t>
              </a:r>
            </a:p>
          </p:txBody>
        </p:sp>
        <p:sp>
          <p:nvSpPr>
            <p:cNvPr id="8" name="左大括号 7"/>
            <p:cNvSpPr/>
            <p:nvPr/>
          </p:nvSpPr>
          <p:spPr>
            <a:xfrm>
              <a:off x="9664" y="2281"/>
              <a:ext cx="359" cy="21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81330" y="4342130"/>
            <a:ext cx="10471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外设拓扑可以通过软件灵活组合。</a:t>
            </a:r>
            <a:r>
              <a:rPr lang="en-US" altLang="zh-CN" sz="2000"/>
              <a:t>NVMe/NVMe+NIC/NVMe+</a:t>
            </a:r>
            <a:r>
              <a:rPr lang="zh-CN" altLang="en-US" sz="2000"/>
              <a:t>远端</a:t>
            </a:r>
            <a:r>
              <a:rPr lang="en-US" altLang="zh-CN" sz="2000"/>
              <a:t>NIC/......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1330" y="4947285"/>
            <a:ext cx="6073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/>
              <a:t>可扩展性。统一框架可进一步扩展到更多 </a:t>
            </a:r>
            <a:r>
              <a:rPr lang="en-US" altLang="zh-CN" sz="2000"/>
              <a:t>Endpoint </a:t>
            </a:r>
            <a:r>
              <a:rPr lang="zh-CN" altLang="en-US" sz="2000"/>
              <a:t>和更多设备类型</a:t>
            </a:r>
          </a:p>
        </p:txBody>
      </p:sp>
      <p:sp>
        <p:nvSpPr>
          <p:cNvPr id="13" name="下箭头 12"/>
          <p:cNvSpPr/>
          <p:nvPr/>
        </p:nvSpPr>
        <p:spPr>
          <a:xfrm rot="18900000">
            <a:off x="7042150" y="4928235"/>
            <a:ext cx="389255" cy="1068070"/>
          </a:xfrm>
          <a:prstGeom prst="down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752080" y="588962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扩大 </a:t>
            </a:r>
            <a:r>
              <a:rPr lang="en-US" altLang="zh-CN" sz="2400" b="1"/>
              <a:t>FPGA </a:t>
            </a:r>
            <a:r>
              <a:rPr lang="zh-CN" altLang="en-US" sz="2400" b="1"/>
              <a:t>硅前系统级验证的场景和覆盖范围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1330" y="3429000"/>
            <a:ext cx="113976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跨 </a:t>
            </a:r>
            <a:r>
              <a:rPr lang="en-US" altLang="zh-CN" sz="2000"/>
              <a:t>Host </a:t>
            </a:r>
            <a:r>
              <a:rPr lang="zh-CN" altLang="en-US" sz="2000"/>
              <a:t>设备接入。逻辑 </a:t>
            </a:r>
            <a:r>
              <a:rPr lang="en-US" altLang="zh-CN" sz="2000"/>
              <a:t>Endpoint </a:t>
            </a:r>
            <a:r>
              <a:rPr lang="zh-CN" altLang="en-US" sz="2000"/>
              <a:t>的真实 </a:t>
            </a:r>
            <a:r>
              <a:rPr lang="en-US" altLang="zh-CN" sz="2000"/>
              <a:t>Backend </a:t>
            </a:r>
            <a:r>
              <a:rPr lang="zh-CN" altLang="en-US" sz="2000"/>
              <a:t>可以部署在 </a:t>
            </a:r>
            <a:r>
              <a:rPr lang="en-US" altLang="zh-CN" sz="2000"/>
              <a:t>FPGA </a:t>
            </a:r>
            <a:r>
              <a:rPr lang="zh-CN" altLang="en-US" sz="2000"/>
              <a:t>所在 </a:t>
            </a:r>
            <a:r>
              <a:rPr lang="en-US" altLang="zh-CN" sz="2000"/>
              <a:t>Host A，</a:t>
            </a:r>
            <a:r>
              <a:rPr lang="zh-CN" altLang="en-US" sz="2000"/>
              <a:t>也可以部署在远端 </a:t>
            </a:r>
            <a:r>
              <a:rPr lang="en-US" altLang="zh-CN" sz="2000"/>
              <a:t>Host B。</a:t>
            </a:r>
            <a:r>
              <a:rPr lang="zh-CN" altLang="en-US" sz="2000"/>
              <a:t>设备的使用方式保持不变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286500" y="316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挑战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5120" y="149225"/>
            <a:ext cx="530098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/>
              <a:t>软硬件协同的 </a:t>
            </a:r>
            <a:r>
              <a:rPr lang="en-US" altLang="zh-CN" sz="2600" b="1"/>
              <a:t>PCIe </a:t>
            </a:r>
            <a:r>
              <a:rPr lang="zh-CN" altLang="en-US" sz="2600" b="1"/>
              <a:t>拓扑虚拟化架构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325120" y="554355"/>
            <a:ext cx="11625580" cy="5121275"/>
            <a:chOff x="512" y="1444"/>
            <a:chExt cx="18308" cy="8065"/>
          </a:xfrm>
        </p:grpSpPr>
        <p:sp>
          <p:nvSpPr>
            <p:cNvPr id="5" name="文本框 4"/>
            <p:cNvSpPr txBox="1"/>
            <p:nvPr/>
          </p:nvSpPr>
          <p:spPr>
            <a:xfrm>
              <a:off x="512" y="1444"/>
              <a:ext cx="299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/>
                <a:t>实现思路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12" y="2098"/>
              <a:ext cx="1830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/>
                <a:t>为了将</a:t>
              </a:r>
              <a:r>
                <a:rPr lang="en-US" altLang="zh-CN" sz="2000"/>
                <a:t>DUT</a:t>
              </a:r>
              <a:r>
                <a:rPr lang="zh-CN" altLang="en-US" sz="2000"/>
                <a:t>可见的逻辑</a:t>
              </a:r>
              <a:r>
                <a:rPr lang="en-US" altLang="zh-CN" sz="2000"/>
                <a:t>PCle</a:t>
              </a:r>
              <a:r>
                <a:rPr lang="zh-CN" altLang="en-US" sz="2000"/>
                <a:t>拓扑与真实外设的物理连接和部署位置解耦，系统采用</a:t>
              </a:r>
              <a:r>
                <a:rPr lang="en-US" altLang="zh-CN" sz="2000"/>
                <a:t>FPGA+Host</a:t>
              </a:r>
              <a:r>
                <a:rPr lang="zh-CN" altLang="en-US" sz="2000"/>
                <a:t>软件协同构造</a:t>
              </a:r>
              <a:r>
                <a:rPr lang="en-US" altLang="zh-CN" sz="2000"/>
                <a:t>DUT</a:t>
              </a:r>
              <a:r>
                <a:rPr lang="zh-CN" altLang="en-US" sz="2000"/>
                <a:t>可见的</a:t>
              </a:r>
              <a:r>
                <a:rPr lang="en-US" altLang="zh-CN" sz="2000"/>
                <a:t>PCle</a:t>
              </a:r>
              <a:r>
                <a:rPr lang="zh-CN" altLang="en-US" sz="2000"/>
                <a:t>环境，并将逻辑</a:t>
              </a:r>
              <a:r>
                <a:rPr lang="en-US" altLang="zh-CN" sz="2000"/>
                <a:t>Endpoint</a:t>
              </a:r>
              <a:r>
                <a:rPr lang="zh-CN" altLang="en-US" sz="2000"/>
                <a:t>映射到本地或远端真实设备。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931" y="3399"/>
              <a:ext cx="19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/>
                <a:t>FPGA </a:t>
              </a:r>
              <a:r>
                <a:rPr lang="zh-CN" altLang="en-US" sz="2000" b="1"/>
                <a:t>侧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45" y="4215"/>
              <a:ext cx="703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/>
                <a:t> 直接面向 </a:t>
              </a:r>
              <a:r>
                <a:rPr lang="en-US" altLang="zh-CN"/>
                <a:t>DUT，</a:t>
              </a:r>
              <a:r>
                <a:rPr lang="zh-CN" altLang="en-US"/>
                <a:t>提供标准 </a:t>
              </a:r>
              <a:r>
                <a:rPr lang="en-US" altLang="zh-CN"/>
                <a:t>PCIe </a:t>
              </a:r>
              <a:r>
                <a:rPr lang="zh-CN" altLang="en-US"/>
                <a:t>访问接口和硬件快速路径</a:t>
              </a:r>
            </a:p>
          </p:txBody>
        </p:sp>
        <p:sp>
          <p:nvSpPr>
            <p:cNvPr id="11" name="左大括号 10"/>
            <p:cNvSpPr/>
            <p:nvPr/>
          </p:nvSpPr>
          <p:spPr>
            <a:xfrm rot="5400000">
              <a:off x="3900" y="2427"/>
              <a:ext cx="641" cy="654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47" y="6028"/>
              <a:ext cx="6984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提供 </a:t>
              </a:r>
              <a:r>
                <a:rPr lang="en-US" altLang="zh-CN"/>
                <a:t>DUT </a:t>
              </a:r>
              <a:r>
                <a:rPr lang="zh-CN" altLang="en-US"/>
                <a:t>可访问的 </a:t>
              </a:r>
              <a:r>
                <a:rPr lang="en-US" altLang="zh-CN"/>
                <a:t>ECAM / </a:t>
              </a:r>
              <a:r>
                <a:rPr lang="zh-CN" altLang="en-US"/>
                <a:t>配置空间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保存 </a:t>
              </a:r>
              <a:r>
                <a:rPr lang="en-US" altLang="zh-CN"/>
                <a:t>PCIe </a:t>
              </a:r>
              <a:r>
                <a:rPr lang="zh-CN" altLang="en-US"/>
                <a:t>配置空间 </a:t>
              </a:r>
              <a:r>
                <a:rPr lang="en-US" altLang="zh-CN"/>
                <a:t>Shadow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根据 </a:t>
              </a:r>
              <a:r>
                <a:rPr lang="en-US" altLang="zh-CN"/>
                <a:t>BAR </a:t>
              </a:r>
              <a:r>
                <a:rPr lang="zh-CN" altLang="en-US"/>
                <a:t>地址进行设备路由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转发设备控制请求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承担 </a:t>
              </a:r>
              <a:r>
                <a:rPr lang="en-US" altLang="zh-CN"/>
                <a:t>DUT </a:t>
              </a:r>
              <a:r>
                <a:rPr lang="zh-CN" altLang="en-US"/>
                <a:t>侧 </a:t>
              </a:r>
              <a:r>
                <a:rPr lang="en-US" altLang="zh-CN"/>
                <a:t>DMA / </a:t>
              </a:r>
              <a:r>
                <a:rPr lang="zh-CN" altLang="en-US"/>
                <a:t>数据通路</a:t>
              </a:r>
              <a:br>
                <a:rPr lang="zh-CN" altLang="en-US"/>
              </a:br>
              <a:r>
                <a:rPr lang="zh-CN" altLang="en-US"/>
                <a:t>处理中断返回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702" y="3399"/>
              <a:ext cx="23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/>
                <a:t>Host </a:t>
              </a:r>
              <a:r>
                <a:rPr lang="zh-CN" altLang="en-US" b="1"/>
                <a:t>软件侧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403" y="4167"/>
              <a:ext cx="8348" cy="13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/>
                <a:t>定义和维护 </a:t>
              </a:r>
              <a:r>
                <a:rPr lang="en-US" altLang="zh-CN"/>
                <a:t>DUT </a:t>
              </a:r>
              <a:r>
                <a:rPr lang="zh-CN" altLang="en-US"/>
                <a:t>所看到的逻辑 </a:t>
              </a:r>
              <a:r>
                <a:rPr lang="en-US" altLang="zh-CN"/>
                <a:t>PCIe </a:t>
              </a:r>
              <a:r>
                <a:rPr lang="zh-CN" altLang="en-US"/>
                <a:t>拓扑，并完成配置语义、地址映射/翻译以及设备语义适配。</a:t>
              </a:r>
            </a:p>
          </p:txBody>
        </p:sp>
        <p:sp>
          <p:nvSpPr>
            <p:cNvPr id="16" name="左大括号 15"/>
            <p:cNvSpPr/>
            <p:nvPr/>
          </p:nvSpPr>
          <p:spPr>
            <a:xfrm rot="5400000">
              <a:off x="14327" y="2427"/>
              <a:ext cx="641" cy="654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312" y="6028"/>
              <a:ext cx="7101" cy="34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/>
                <a:t>决定 </a:t>
              </a:r>
              <a:r>
                <a:rPr lang="en-US" altLang="zh-CN"/>
                <a:t>DUT </a:t>
              </a:r>
              <a:r>
                <a:rPr lang="zh-CN" altLang="en-US"/>
                <a:t>能看到哪些 </a:t>
              </a:r>
              <a:r>
                <a:rPr lang="en-US" altLang="zh-CN"/>
                <a:t>PCIe Endpoint</a:t>
              </a:r>
            </a:p>
            <a:p>
              <a:r>
                <a:rPr lang="zh-CN" altLang="en-US"/>
                <a:t>维护 </a:t>
              </a:r>
              <a:r>
                <a:rPr lang="en-US" altLang="zh-CN"/>
                <a:t>BDF、BAR、Bridge </a:t>
              </a:r>
              <a:r>
                <a:rPr lang="zh-CN" altLang="en-US"/>
                <a:t>等配置状态</a:t>
              </a:r>
            </a:p>
            <a:p>
              <a:r>
                <a:rPr lang="zh-CN" altLang="en-US"/>
                <a:t>维护逻辑 </a:t>
              </a:r>
              <a:r>
                <a:rPr lang="en-US" altLang="zh-CN"/>
                <a:t>Endpoint → Local / </a:t>
              </a:r>
              <a:r>
                <a:rPr lang="en-US" altLang="zh-CN" b="1"/>
                <a:t>Remote </a:t>
              </a:r>
              <a:r>
                <a:rPr lang="en-US" altLang="zh-CN"/>
                <a:t>Backend </a:t>
              </a:r>
              <a:r>
                <a:rPr lang="zh-CN" altLang="en-US"/>
                <a:t>的映射</a:t>
              </a:r>
            </a:p>
            <a:p>
              <a:r>
                <a:rPr lang="zh-CN" altLang="en-US"/>
                <a:t>完成 </a:t>
              </a:r>
              <a:r>
                <a:rPr lang="en-US" altLang="zh-CN"/>
                <a:t>DUT </a:t>
              </a:r>
              <a:r>
                <a:rPr lang="zh-CN" altLang="en-US"/>
                <a:t>地址与目标设备地址之间的映射/翻译</a:t>
              </a:r>
            </a:p>
            <a:p>
              <a:r>
                <a:rPr lang="zh-CN" altLang="en-US"/>
                <a:t>通过不同 </a:t>
              </a:r>
              <a:r>
                <a:rPr lang="en-US" altLang="zh-CN"/>
                <a:t>Backend </a:t>
              </a:r>
              <a:r>
                <a:rPr lang="zh-CN" altLang="en-US"/>
                <a:t>适配 </a:t>
              </a:r>
              <a:r>
                <a:rPr lang="en-US" altLang="zh-CN"/>
                <a:t>NVMe、NIC </a:t>
              </a:r>
              <a:r>
                <a:rPr lang="zh-CN" altLang="en-US"/>
                <a:t>等设备语义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01345" y="5898515"/>
            <a:ext cx="11305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软件负责“定义设备在哪里、是什么”，</a:t>
            </a:r>
            <a:r>
              <a:rPr lang="en-US" altLang="zh-CN" b="1"/>
              <a:t>FPGA</a:t>
            </a:r>
            <a:r>
              <a:rPr lang="zh-CN" altLang="en-US" b="1"/>
              <a:t>负责“让 </a:t>
            </a:r>
            <a:r>
              <a:rPr lang="en-US" altLang="zh-CN" b="1"/>
              <a:t>DUT </a:t>
            </a:r>
            <a:r>
              <a:rPr lang="zh-CN" altLang="en-US" b="1"/>
              <a:t>正常访问它”，真实设备负责“真正执行 </a:t>
            </a:r>
            <a:r>
              <a:rPr lang="en-US" altLang="zh-CN" b="1"/>
              <a:t>I/O”</a:t>
            </a:r>
          </a:p>
        </p:txBody>
      </p:sp>
      <p:sp>
        <p:nvSpPr>
          <p:cNvPr id="22" name="左右箭头 21"/>
          <p:cNvSpPr/>
          <p:nvPr/>
        </p:nvSpPr>
        <p:spPr>
          <a:xfrm>
            <a:off x="3014345" y="1870710"/>
            <a:ext cx="5471160" cy="223520"/>
          </a:xfrm>
          <a:prstGeom prst="leftRight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55685" y="260985"/>
            <a:ext cx="2366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①前端、后端抽象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②使用外设步骤抽象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0370" y="243840"/>
            <a:ext cx="3866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可以先放一张类似这种总体构图</a:t>
            </a:r>
          </a:p>
        </p:txBody>
      </p:sp>
      <p:pic>
        <p:nvPicPr>
          <p:cNvPr id="7" name="图片 6" descr="ChatGPT Image 2026年9月14日 16_26_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" y="953135"/>
            <a:ext cx="11450320" cy="5725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6725" y="311785"/>
            <a:ext cx="391160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/>
              <a:t>Logical Topology Synthesis 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725" y="1156970"/>
            <a:ext cx="1056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构建 </a:t>
            </a:r>
            <a:r>
              <a:rPr lang="en-US" altLang="zh-CN"/>
              <a:t>DUT </a:t>
            </a:r>
            <a:r>
              <a:rPr lang="zh-CN" altLang="en-US"/>
              <a:t>可见的逻辑外设拓扑，并将逻辑 </a:t>
            </a:r>
            <a:r>
              <a:rPr lang="en-US" altLang="zh-CN"/>
              <a:t>Endpoint </a:t>
            </a:r>
            <a:r>
              <a:rPr lang="zh-CN" altLang="en-US"/>
              <a:t>与实际物理设备进行解耦和映射。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6725" y="1878965"/>
            <a:ext cx="5211445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/>
              <a:t>Configuration-Space Virtualization</a:t>
            </a:r>
          </a:p>
          <a:p>
            <a:endParaRPr lang="en-US" altLang="zh-CN" sz="2600" b="1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66725" y="2684780"/>
            <a:ext cx="9952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为逻辑外设节点提供标准配置空间语义，使 </a:t>
            </a:r>
            <a:r>
              <a:rPr lang="en-US" altLang="zh-CN"/>
              <a:t>Linux </a:t>
            </a:r>
            <a:r>
              <a:rPr lang="zh-CN" altLang="en-US"/>
              <a:t>能够正常枚举、识别和配置虚拟化设备。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66090" y="3406775"/>
            <a:ext cx="431609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/>
              <a:t>Endpoint Semantic Mediation</a:t>
            </a:r>
          </a:p>
          <a:p>
            <a:endParaRPr lang="en-US" altLang="zh-CN" sz="2600" b="1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66725" y="4363085"/>
            <a:ext cx="10923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将 </a:t>
            </a:r>
            <a:r>
              <a:rPr lang="en-US" altLang="zh-CN"/>
              <a:t>DUT </a:t>
            </a:r>
            <a:r>
              <a:rPr lang="zh-CN" altLang="en-US"/>
              <a:t>原生驱动产生的设备操作转换为后端真实设备能够执行的控制语义，实现不同设备类型的兼容。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466090" y="5260340"/>
            <a:ext cx="406400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/>
              <a:t>DMA Data-Path Realization</a:t>
            </a:r>
          </a:p>
          <a:p>
            <a:endParaRPr lang="en-US" altLang="zh-CN" sz="2600" b="1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466090" y="6147435"/>
            <a:ext cx="10460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建立 </a:t>
            </a:r>
            <a:r>
              <a:rPr lang="en-US" altLang="zh-CN"/>
              <a:t>DUT </a:t>
            </a:r>
            <a:r>
              <a:rPr lang="zh-CN" altLang="en-US"/>
              <a:t>内存与真实设备之间的数据传输路径，使本地或远端设备能够完成实际 </a:t>
            </a:r>
            <a:r>
              <a:rPr lang="en-US" altLang="zh-CN"/>
              <a:t>DMA </a:t>
            </a:r>
            <a:r>
              <a:rPr lang="zh-CN" altLang="en-US"/>
              <a:t>数据访问。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6725" y="311785"/>
            <a:ext cx="391160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/>
              <a:t>Logical Topology Synthesis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6725" y="1202690"/>
            <a:ext cx="399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Topology Specification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6725" y="2151380"/>
            <a:ext cx="7346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定义固定的虚拟 </a:t>
            </a:r>
            <a:r>
              <a:rPr lang="en-US" altLang="zh-CN" sz="2000"/>
              <a:t>PCIe </a:t>
            </a:r>
            <a:r>
              <a:rPr lang="zh-CN" altLang="en-US" sz="2000"/>
              <a:t>层次、</a:t>
            </a:r>
            <a:r>
              <a:rPr lang="en-US" altLang="zh-CN" sz="2000"/>
              <a:t>BDF </a:t>
            </a:r>
            <a:r>
              <a:rPr lang="zh-CN" altLang="en-US" sz="2000"/>
              <a:t>分配规则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466725" y="30384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 Endpoint–Backend Mapping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6725" y="3987165"/>
            <a:ext cx="79533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决定每个逻辑 </a:t>
            </a:r>
            <a:r>
              <a:rPr lang="en-US" altLang="zh-CN" sz="2000"/>
              <a:t>Endpoint </a:t>
            </a:r>
            <a:r>
              <a:rPr lang="zh-CN" altLang="en-US" sz="2000"/>
              <a:t>后面对应什么设备、在哪、通过什么 </a:t>
            </a:r>
            <a:r>
              <a:rPr lang="en-US" altLang="zh-CN" sz="2000"/>
              <a:t>transport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65785" y="4874260"/>
            <a:ext cx="3282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③</a:t>
            </a:r>
            <a:r>
              <a:rPr lang="en-US" altLang="zh-CN" sz="2400"/>
              <a:t> Topology Realization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6725" y="5822950"/>
            <a:ext cx="7557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把前两步的逻辑结果真正变成运行时 </a:t>
            </a:r>
            <a:r>
              <a:rPr lang="en-US" altLang="zh-CN" sz="2000"/>
              <a:t>ECAM shadow </a:t>
            </a:r>
            <a:r>
              <a:rPr lang="zh-CN" altLang="en-US" sz="2000"/>
              <a:t>和 </a:t>
            </a:r>
            <a:r>
              <a:rPr lang="en-US" altLang="zh-CN" sz="2000"/>
              <a:t>route </a:t>
            </a:r>
            <a:r>
              <a:rPr lang="zh-CN" altLang="en-US" sz="2000"/>
              <a:t>状态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6725" y="311785"/>
            <a:ext cx="522541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/>
              <a:t>Logical Topology Configuration  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725" y="1202690"/>
            <a:ext cx="399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Topology Specification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6725" y="2151380"/>
            <a:ext cx="8399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定义固定的虚拟 </a:t>
            </a:r>
            <a:r>
              <a:rPr lang="en-US" altLang="zh-CN" sz="2000"/>
              <a:t>PCIe </a:t>
            </a:r>
            <a:r>
              <a:rPr lang="zh-CN" altLang="en-US" sz="2000"/>
              <a:t>层次、</a:t>
            </a:r>
            <a:r>
              <a:rPr lang="zh-CN" altLang="en-US" sz="2000">
                <a:sym typeface="+mn-ea"/>
              </a:rPr>
              <a:t>决定每个逻辑 </a:t>
            </a:r>
            <a:r>
              <a:rPr lang="en-US" altLang="zh-CN" sz="2000">
                <a:sym typeface="+mn-ea"/>
              </a:rPr>
              <a:t>Endpoint </a:t>
            </a:r>
            <a:r>
              <a:rPr lang="zh-CN" altLang="en-US" sz="2000">
                <a:sym typeface="+mn-ea"/>
              </a:rPr>
              <a:t>后面对应什么设备</a:t>
            </a:r>
            <a:endParaRPr lang="en-US" altLang="zh-CN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565" y="349250"/>
            <a:ext cx="60674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Configuration-Space Virtualization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6565" y="1238885"/>
            <a:ext cx="60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Configuration Image Construction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565" y="3032760"/>
            <a:ext cx="493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 ECAM Access Mediation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6565" y="4826635"/>
            <a:ext cx="7366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2400"/>
              <a:t>③</a:t>
            </a:r>
            <a:r>
              <a:rPr lang="en-US" altLang="zh-CN" sz="2400"/>
              <a:t> State Synchronization and Routing Coherence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6565" y="2166620"/>
            <a:ext cx="8954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为逻辑 </a:t>
            </a:r>
            <a:r>
              <a:rPr lang="en-US" altLang="zh-CN" sz="2000"/>
              <a:t>PCIe </a:t>
            </a:r>
            <a:r>
              <a:rPr lang="zh-CN" altLang="en-US" sz="2000"/>
              <a:t>节点构造符合设备/桥语义的配置空间镜像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6565" y="3960495"/>
            <a:ext cx="9782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通过 </a:t>
            </a:r>
            <a:r>
              <a:rPr lang="en-US" altLang="zh-CN" sz="2000"/>
              <a:t>FPGA </a:t>
            </a:r>
            <a:r>
              <a:rPr lang="zh-CN" altLang="en-US" sz="2000"/>
              <a:t>暴露标准 </a:t>
            </a:r>
            <a:r>
              <a:rPr lang="en-US" altLang="zh-CN" sz="2000"/>
              <a:t>ECAM，</a:t>
            </a:r>
            <a:r>
              <a:rPr lang="zh-CN" altLang="en-US" sz="2000"/>
              <a:t>并将读请求走硬件 </a:t>
            </a:r>
            <a:r>
              <a:rPr lang="en-US" altLang="zh-CN" sz="2000"/>
              <a:t>shadow、</a:t>
            </a:r>
            <a:r>
              <a:rPr lang="zh-CN" altLang="en-US" sz="2000"/>
              <a:t>写请求交由 </a:t>
            </a:r>
            <a:r>
              <a:rPr lang="en-US" altLang="zh-CN" sz="2000"/>
              <a:t>QEMU </a:t>
            </a:r>
            <a:r>
              <a:rPr lang="zh-CN" altLang="en-US" sz="2000"/>
              <a:t>处理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565" y="5754370"/>
            <a:ext cx="10469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 </a:t>
            </a:r>
            <a:r>
              <a:rPr lang="en-US" altLang="zh-CN" sz="2000"/>
              <a:t>QEMU </a:t>
            </a:r>
            <a:r>
              <a:rPr lang="zh-CN" altLang="en-US" sz="2000"/>
              <a:t>权威配置状态同步到 </a:t>
            </a:r>
            <a:r>
              <a:rPr lang="en-US" altLang="zh-CN" sz="2000"/>
              <a:t>FPGA，</a:t>
            </a:r>
            <a:r>
              <a:rPr lang="zh-CN" altLang="en-US" sz="2000"/>
              <a:t>并保持配置空间与 </a:t>
            </a:r>
            <a:r>
              <a:rPr lang="en-US" altLang="zh-CN" sz="2000"/>
              <a:t>BAR </a:t>
            </a:r>
            <a:r>
              <a:rPr lang="zh-CN" altLang="en-US" sz="2000"/>
              <a:t>路由状态一致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565" y="349250"/>
            <a:ext cx="60674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Configuration-Space Virtualization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6565" y="1238885"/>
            <a:ext cx="60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Configuration Image Construction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565" y="3032760"/>
            <a:ext cx="493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 </a:t>
            </a:r>
            <a:r>
              <a:rPr lang="zh-CN" altLang="en-US" sz="2400"/>
              <a:t>前端：</a:t>
            </a:r>
            <a:r>
              <a:rPr lang="en-US" altLang="zh-CN" sz="2400"/>
              <a:t>ECAM Access Mediation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6565" y="4826635"/>
            <a:ext cx="7366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2400"/>
              <a:t>③</a:t>
            </a:r>
            <a:r>
              <a:rPr lang="en-US" altLang="zh-CN" sz="2400"/>
              <a:t> </a:t>
            </a:r>
            <a:r>
              <a:rPr lang="zh-CN" altLang="en-US" sz="2400"/>
              <a:t>后端：</a:t>
            </a:r>
            <a:r>
              <a:rPr lang="en-US" altLang="zh-CN" sz="2400"/>
              <a:t>State Synchronization and Routing Coherence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6565" y="2166620"/>
            <a:ext cx="8954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为逻辑 </a:t>
            </a:r>
            <a:r>
              <a:rPr lang="en-US" altLang="zh-CN" sz="2000"/>
              <a:t>PCIe </a:t>
            </a:r>
            <a:r>
              <a:rPr lang="zh-CN" altLang="en-US" sz="2000"/>
              <a:t>节点构造符合设备/桥语义的配置空间镜像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6565" y="3960495"/>
            <a:ext cx="9782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前端模块在 </a:t>
            </a:r>
            <a:r>
              <a:rPr lang="en-US" altLang="zh-CN" sz="2000"/>
              <a:t>FPGA</a:t>
            </a:r>
            <a:r>
              <a:rPr lang="zh-CN" altLang="en-US" sz="2000"/>
              <a:t>上暴露标准 </a:t>
            </a:r>
            <a:r>
              <a:rPr lang="en-US" altLang="zh-CN" sz="2000"/>
              <a:t>ECAM，</a:t>
            </a:r>
            <a:r>
              <a:rPr lang="zh-CN" altLang="en-US" sz="2000"/>
              <a:t>并将对于配置空间的操作交给后端处理；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565" y="5754370"/>
            <a:ext cx="104692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针对前端传递的请求，在软件后端进行权威配置状态同步</a:t>
            </a:r>
            <a:r>
              <a:rPr lang="en-US" altLang="zh-CN" sz="2000"/>
              <a:t>，</a:t>
            </a:r>
            <a:r>
              <a:rPr lang="zh-CN" altLang="en-US" sz="2000">
                <a:sym typeface="+mn-ea"/>
              </a:rPr>
              <a:t>并维护</a:t>
            </a:r>
            <a:r>
              <a:rPr lang="en-US" altLang="zh-CN" sz="2000">
                <a:sym typeface="+mn-ea"/>
              </a:rPr>
              <a:t>FPGA</a:t>
            </a:r>
            <a:r>
              <a:rPr lang="zh-CN" altLang="en-US" sz="2000">
                <a:sym typeface="+mn-ea"/>
              </a:rPr>
              <a:t>上的配置空间</a:t>
            </a:r>
            <a:r>
              <a:rPr lang="en-US" altLang="zh-CN" sz="2000">
                <a:sym typeface="+mn-ea"/>
              </a:rPr>
              <a:t>cache</a:t>
            </a:r>
            <a:r>
              <a:rPr lang="zh-CN" altLang="en-US" sz="2000">
                <a:sym typeface="+mn-ea"/>
              </a:rPr>
              <a:t>，来实现处理器读取配置空间的加速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51790" y="370840"/>
            <a:ext cx="504063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Endpoint Semantic Mediation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62050" y="2070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9260" y="349250"/>
            <a:ext cx="4064000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>
                <a:sym typeface="+mn-ea"/>
              </a:rPr>
              <a:t>DMA Data-Path Realization</a:t>
            </a:r>
            <a:endParaRPr lang="en-US" altLang="zh-CN" sz="2600" b="1"/>
          </a:p>
          <a:p>
            <a:endParaRPr lang="en-US" altLang="zh-CN" sz="26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4345" y="421005"/>
            <a:ext cx="25419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/>
              <a:t>性能开销和评估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0070" y="1047115"/>
            <a:ext cx="1736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控制通路开销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95220" y="912495"/>
            <a:ext cx="19411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On-board</a:t>
            </a:r>
          </a:p>
          <a:p>
            <a:r>
              <a:rPr lang="en-US" altLang="zh-CN"/>
              <a:t>   ↓</a:t>
            </a:r>
          </a:p>
          <a:p>
            <a:r>
              <a:rPr lang="en-US" altLang="zh-CN"/>
              <a:t>Host A Local</a:t>
            </a:r>
          </a:p>
          <a:p>
            <a:r>
              <a:rPr lang="en-US" altLang="zh-CN"/>
              <a:t>   ↓</a:t>
            </a:r>
          </a:p>
          <a:p>
            <a:r>
              <a:rPr lang="en-US" altLang="zh-CN"/>
              <a:t>Host B Remote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9120" y="2819400"/>
            <a:ext cx="1816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端到端</a:t>
            </a:r>
            <a:r>
              <a:rPr lang="en-US" altLang="zh-CN" sz="2000"/>
              <a:t>I/O</a:t>
            </a:r>
            <a:r>
              <a:rPr lang="zh-CN" altLang="en-US" sz="2000"/>
              <a:t>能力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7405" y="3305810"/>
            <a:ext cx="13195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以</a:t>
            </a:r>
            <a:r>
              <a:rPr lang="en-US" altLang="zh-CN" sz="1600"/>
              <a:t>NVMe</a:t>
            </a:r>
            <a:r>
              <a:rPr lang="zh-CN" altLang="en-US" sz="1600"/>
              <a:t>为主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35020" y="4349750"/>
            <a:ext cx="833755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strike="sngStrike"/>
              <a:t>虽然控制路径增加了几十微秒，但当前 </a:t>
            </a:r>
            <a:r>
              <a:rPr lang="en-US" altLang="zh-CN" sz="2000" strike="sngStrike"/>
              <a:t>50 MHz</a:t>
            </a:r>
            <a:r>
              <a:rPr lang="zh-CN" altLang="en-US" sz="2000" strike="sngStrike"/>
              <a:t>、</a:t>
            </a:r>
            <a:r>
              <a:rPr lang="en-US" altLang="zh-CN" sz="2000" strike="sngStrike"/>
              <a:t>QD=1 </a:t>
            </a:r>
            <a:r>
              <a:rPr lang="zh-CN" altLang="en-US" sz="2000" strike="sngStrike"/>
              <a:t>系统中，毫秒级软件提交开销占主导，因此新增控制开销尚未成为端到端 </a:t>
            </a:r>
            <a:r>
              <a:rPr lang="en-US" altLang="zh-CN" sz="2000" strike="sngStrike"/>
              <a:t>I/O </a:t>
            </a:r>
            <a:r>
              <a:rPr lang="zh-CN" altLang="en-US" sz="2000" strike="sngStrike"/>
              <a:t>性能的主要瓶颈。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1520" y="5502910"/>
            <a:ext cx="18967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/>
              <a:t>FPGA </a:t>
            </a:r>
            <a:r>
              <a:rPr lang="zh-CN" altLang="en-US" sz="2000"/>
              <a:t>实现代价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01975" y="5502910"/>
            <a:ext cx="2644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LUT / FF / BRAM / Fmax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415" y="421005"/>
            <a:ext cx="7497445" cy="2034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415" y="2455545"/>
            <a:ext cx="7497445" cy="18942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9440" y="351790"/>
            <a:ext cx="29013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/>
              <a:t>功能与能力验证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1840" y="1537970"/>
            <a:ext cx="807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解耦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99440" y="3009265"/>
            <a:ext cx="11982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/>
              <a:t>“</a:t>
            </a:r>
            <a:r>
              <a:rPr lang="zh-CN" altLang="en-US" sz="2400" b="1"/>
              <a:t>看到</a:t>
            </a:r>
            <a:r>
              <a:rPr lang="en-US" altLang="zh-CN" sz="2400" b="1"/>
              <a:t>”</a:t>
            </a:r>
            <a:r>
              <a:rPr lang="zh-CN" altLang="en-US" sz="2400" b="1"/>
              <a:t>并使用</a:t>
            </a:r>
            <a:endParaRPr lang="en-US" altLang="zh-CN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1797685" y="1537970"/>
            <a:ext cx="96939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strike="sngStrike"/>
              <a:t>保持物理连接和 </a:t>
            </a:r>
            <a:r>
              <a:rPr lang="en-US" altLang="zh-CN" sz="2000" strike="sngStrike"/>
              <a:t>FPGA bitstream </a:t>
            </a:r>
            <a:r>
              <a:rPr lang="zh-CN" altLang="en-US" sz="2000" strike="sngStrike"/>
              <a:t>不变，只改软件配置，</a:t>
            </a:r>
            <a:r>
              <a:rPr lang="en-US" altLang="zh-CN" sz="2000" strike="sngStrike"/>
              <a:t>DUT </a:t>
            </a:r>
            <a:r>
              <a:rPr lang="zh-CN" altLang="en-US" sz="2000" strike="sngStrike"/>
              <a:t>看到的 </a:t>
            </a:r>
            <a:r>
              <a:rPr lang="en-US" altLang="zh-CN" sz="2000" strike="sngStrike"/>
              <a:t>PCIe </a:t>
            </a:r>
            <a:r>
              <a:rPr lang="zh-CN" altLang="en-US" sz="2000" strike="sngStrike"/>
              <a:t>拓扑随之改变。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251710" y="2672080"/>
            <a:ext cx="38442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能枚举到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能加载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驱动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能正常操作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能正常使用</a:t>
            </a:r>
            <a:r>
              <a:rPr lang="en-US" altLang="zh-CN" sz="2000">
                <a:sym typeface="+mn-ea"/>
              </a:rPr>
              <a:t>fio/iperf</a:t>
            </a:r>
            <a:r>
              <a:rPr lang="zh-CN" altLang="en-US" sz="2000">
                <a:sym typeface="+mn-ea"/>
              </a:rPr>
              <a:t>等标准应用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1797685" y="2709545"/>
            <a:ext cx="302895" cy="12623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2450" y="5165725"/>
            <a:ext cx="330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多 </a:t>
            </a:r>
            <a:r>
              <a:rPr lang="en-US" altLang="zh-CN" sz="2400" b="1"/>
              <a:t>Endpoint </a:t>
            </a:r>
            <a:r>
              <a:rPr lang="zh-CN" altLang="en-US" sz="2400" b="1"/>
              <a:t>与设备类型扩展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129395" y="3061335"/>
            <a:ext cx="2901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跨 </a:t>
            </a:r>
            <a:r>
              <a:rPr lang="en-US" altLang="zh-CN" sz="2400" b="1"/>
              <a:t>Host Remote </a:t>
            </a:r>
            <a:r>
              <a:rPr lang="zh-CN" altLang="en-US" sz="2400" b="1"/>
              <a:t>能力</a:t>
            </a:r>
          </a:p>
        </p:txBody>
      </p:sp>
      <p:sp>
        <p:nvSpPr>
          <p:cNvPr id="3" name="右箭头 2"/>
          <p:cNvSpPr/>
          <p:nvPr/>
        </p:nvSpPr>
        <p:spPr>
          <a:xfrm>
            <a:off x="5823585" y="3202940"/>
            <a:ext cx="3011170" cy="225425"/>
          </a:xfrm>
          <a:prstGeom prst="rightArrow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67475" y="2834640"/>
            <a:ext cx="1840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进一步展示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17565" y="5165725"/>
            <a:ext cx="30562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/>
              <a:t>NVMe + NIC + Vortex + FSA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530860" y="762000"/>
          <a:ext cx="9429750" cy="261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写</a:t>
                      </a:r>
                      <a:r>
                        <a:rPr lang="en-US" altLang="zh-CN" sz="2400"/>
                        <a:t>BAR</a:t>
                      </a:r>
                      <a:r>
                        <a:rPr lang="zh-CN" altLang="en-US" sz="240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有效请求的门铃提交延迟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16.62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54.97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23240" y="137160"/>
            <a:ext cx="5187315" cy="624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/>
              <a:t>本机控制通路延迟</a:t>
            </a:r>
            <a:r>
              <a:rPr lang="en-US" altLang="zh-CN" sz="3200" b="1"/>
              <a:t> cycle</a:t>
            </a:r>
            <a:r>
              <a:rPr lang="zh-CN" altLang="en-US" sz="3200" b="1"/>
              <a:t>计时</a:t>
            </a:r>
          </a:p>
          <a:p>
            <a:endParaRPr lang="zh-CN" altLang="en-US" sz="3200" b="1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30860" y="4125595"/>
          <a:ext cx="9429750" cy="261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写</a:t>
                      </a:r>
                      <a:r>
                        <a:rPr lang="en-US" altLang="zh-CN" sz="2400"/>
                        <a:t>BAR</a:t>
                      </a:r>
                      <a:r>
                        <a:rPr lang="zh-CN" altLang="en-US" sz="240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有效请求的门铃提交延迟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2.45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4.81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23240" y="3429000"/>
            <a:ext cx="58102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ym typeface="+mn-ea"/>
              </a:rPr>
              <a:t>板载控制通路延迟</a:t>
            </a:r>
            <a:r>
              <a:rPr lang="en-US" altLang="zh-CN" sz="3200" b="1">
                <a:sym typeface="+mn-ea"/>
              </a:rPr>
              <a:t> cycle</a:t>
            </a:r>
            <a:r>
              <a:rPr lang="zh-CN" altLang="en-US" sz="3200" b="1">
                <a:sym typeface="+mn-ea"/>
              </a:rPr>
              <a:t>计时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80415" y="56515"/>
            <a:ext cx="47040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本机数据通路性能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80415" y="864870"/>
          <a:ext cx="95834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测试项目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13.52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12.34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176.41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140.62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香山 → 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56.65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241 → 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46.82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cs typeface="+mn-lt"/>
                          <a:sym typeface="+mn-ea"/>
                        </a:rPr>
                        <a:t>NIC</a:t>
                      </a:r>
                      <a:endParaRPr lang="en-US" altLang="zh-CN" sz="2000" b="0" i="0">
                        <a:solidFill>
                          <a:srgbClr val="CCCCCC"/>
                        </a:solidFill>
                        <a:ea typeface="-apple-system"/>
                        <a:cs typeface="+mn-lt"/>
                        <a:sym typeface="+mn-ea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UDP：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 → 241</a:t>
                      </a:r>
                      <a:endParaRPr lang="en-US" altLang="zh-CN" sz="2000" b="0" i="0">
                        <a:cs typeface="+mn-lt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4.90Mbit/s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UDP:   241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→</a:t>
                      </a:r>
                      <a:r>
                        <a:rPr lang="en-US" altLang="zh-CN" sz="2000">
                          <a:cs typeface="+mn-lt"/>
                          <a:sym typeface="+mn-ea"/>
                        </a:rPr>
                        <a:t>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7.75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2.80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04240" y="841375"/>
          <a:ext cx="95834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测试项目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13.28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12.91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174.50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 178.07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香山 → 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241 → 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cs typeface="+mn-lt"/>
                          <a:sym typeface="+mn-ea"/>
                        </a:rPr>
                        <a:t>NIC</a:t>
                      </a:r>
                      <a:endParaRPr lang="en-US" altLang="zh-CN" sz="2000" b="0" i="0">
                        <a:solidFill>
                          <a:srgbClr val="CCCCCC"/>
                        </a:solidFill>
                        <a:ea typeface="-apple-system"/>
                        <a:cs typeface="+mn-lt"/>
                        <a:sym typeface="+mn-ea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UDP：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 → 241</a:t>
                      </a:r>
                      <a:endParaRPr lang="en-US" altLang="zh-CN" sz="2000" b="0" i="0">
                        <a:cs typeface="+mn-lt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UDP:   241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→</a:t>
                      </a:r>
                      <a:r>
                        <a:rPr lang="en-US" altLang="zh-CN" sz="2000">
                          <a:cs typeface="+mn-lt"/>
                          <a:sym typeface="+mn-ea"/>
                        </a:rPr>
                        <a:t>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4240" y="57150"/>
            <a:ext cx="381571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sym typeface="+mn-ea"/>
              </a:rPr>
              <a:t>板载数据通路性能</a:t>
            </a:r>
            <a:endParaRPr lang="zh-CN" altLang="en-US" sz="3200" b="1"/>
          </a:p>
          <a:p>
            <a:endParaRPr lang="zh-CN" altLang="en-US" sz="32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8450" y="393065"/>
            <a:ext cx="113233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/>
              <a:t>Software-Defined Real-Peripheral Access for FPGA-Based Pre-Silicon Prototyping</a:t>
            </a: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298450" y="1070610"/>
            <a:ext cx="81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需求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298450" y="1750060"/>
            <a:ext cx="115296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FPGA </a:t>
            </a:r>
            <a:r>
              <a:rPr lang="zh-CN" altLang="en-US" sz="2000"/>
              <a:t>原型验证正逐步由单纯的 </a:t>
            </a:r>
            <a:r>
              <a:rPr lang="en-US" altLang="zh-CN" sz="2000"/>
              <a:t>RTL </a:t>
            </a:r>
            <a:r>
              <a:rPr lang="zh-CN" altLang="en-US" sz="2000"/>
              <a:t>功能验证扩展为面向完整软硬件栈的系统级硅前验证。对于运行操作系统、原生驱动和真实应用负载的 </a:t>
            </a:r>
            <a:r>
              <a:rPr lang="en-US" altLang="zh-CN" sz="2000"/>
              <a:t>DUT，</a:t>
            </a:r>
            <a:r>
              <a:rPr lang="zh-CN" altLang="en-US" sz="2000"/>
              <a:t>外设行为已成为系统验证环境的重要组成部分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98450" y="2675890"/>
            <a:ext cx="3495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现有方案的局限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98450" y="3355340"/>
            <a:ext cx="112744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物理外设接入能够保留真实控制器、固件及 </a:t>
            </a:r>
            <a:r>
              <a:rPr lang="en-US" altLang="zh-CN" sz="2000"/>
              <a:t>DMA </a:t>
            </a:r>
            <a:r>
              <a:rPr lang="zh-CN" altLang="en-US" sz="2000"/>
              <a:t>行为，但大规模设备访问受到板级接口、物理部署和连接关系的约束</a:t>
            </a: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98450" y="4281170"/>
            <a:ext cx="113226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虚拟外设模型具有较高的可配置性和可组合性，但其验证可信度依赖于模型对真实设备行为的覆盖程度</a:t>
            </a: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98450" y="5207000"/>
            <a:ext cx="1720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核心问题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98450" y="5759450"/>
            <a:ext cx="11766550" cy="789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因此，我们关注的核心问题是：如何在保留真实设备执行的同时，使 </a:t>
            </a:r>
            <a:r>
              <a:rPr lang="en-US" altLang="zh-CN" sz="2000"/>
              <a:t>DUT </a:t>
            </a:r>
            <a:r>
              <a:rPr lang="zh-CN" altLang="en-US" sz="2000"/>
              <a:t>所使用的外设不再由设备的物理连接与部署位置直接决定，而能够按照验证需求通过软件配置。</a:t>
            </a:r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32435" y="1390015"/>
            <a:ext cx="975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挑战</a:t>
            </a:r>
            <a:r>
              <a:rPr lang="en-US" altLang="zh-CN" sz="2400" b="1"/>
              <a:t>1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32435" y="1957070"/>
            <a:ext cx="11438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当真实设备不再直接位于 </a:t>
            </a:r>
            <a:r>
              <a:rPr lang="en-US" altLang="zh-CN" sz="2000"/>
              <a:t>DUT </a:t>
            </a:r>
            <a:r>
              <a:rPr lang="zh-CN" altLang="en-US" sz="2000"/>
              <a:t>的物理 </a:t>
            </a:r>
            <a:r>
              <a:rPr lang="en-US" altLang="zh-CN" sz="2000"/>
              <a:t>I/O hierarchy </a:t>
            </a:r>
            <a:r>
              <a:rPr lang="zh-CN" altLang="en-US" sz="2000"/>
              <a:t>中，如何仍向 </a:t>
            </a:r>
            <a:r>
              <a:rPr lang="en-US" altLang="zh-CN" sz="2000"/>
              <a:t>DUT </a:t>
            </a:r>
            <a:r>
              <a:rPr lang="zh-CN" altLang="en-US" sz="2000"/>
              <a:t>提供标准、可枚举、可配置并可绑定原生驱动的设备视图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2435" y="2770505"/>
            <a:ext cx="1264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挑战</a:t>
            </a:r>
            <a:r>
              <a:rPr lang="en-US" altLang="zh-CN" sz="2400" b="1"/>
              <a:t>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32435" y="361950"/>
            <a:ext cx="11600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为实现这一目标，需要将 </a:t>
            </a:r>
            <a:r>
              <a:rPr lang="en-US" altLang="zh-CN" sz="2400" b="1"/>
              <a:t>DUT </a:t>
            </a:r>
            <a:r>
              <a:rPr lang="zh-CN" altLang="en-US" sz="2400" b="1"/>
              <a:t>可见的设备接口及其使用方式与真实设备的物理接入关系解耦。这带来了以下三个挑战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32435" y="3337560"/>
            <a:ext cx="11438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当 </a:t>
            </a:r>
            <a:r>
              <a:rPr lang="en-US" altLang="zh-CN" sz="2000"/>
              <a:t>DUT </a:t>
            </a:r>
            <a:r>
              <a:rPr lang="zh-CN" altLang="en-US" sz="2000"/>
              <a:t>与真实设备处于不同地址域时，如何保持原生驱动所依赖的队列、</a:t>
            </a:r>
            <a:r>
              <a:rPr lang="en-US" altLang="zh-CN" sz="2000"/>
              <a:t>DMA、</a:t>
            </a:r>
            <a:r>
              <a:rPr lang="zh-CN" altLang="en-US" sz="2000"/>
              <a:t>完成与中断等运行时设备语义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432435" y="4718050"/>
            <a:ext cx="11372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如何引入软件可编程的设备控制，同时避免将大规模 </a:t>
            </a:r>
            <a:r>
              <a:rPr lang="en-US" altLang="zh-CN" sz="2000"/>
              <a:t>I/O </a:t>
            </a:r>
            <a:r>
              <a:rPr lang="zh-CN" altLang="en-US" sz="2000"/>
              <a:t>数据传输强制置于软件代理的关键路径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32435" y="41509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挑战</a:t>
            </a:r>
            <a:r>
              <a:rPr lang="en-US" altLang="zh-CN" sz="2400" b="1"/>
              <a:t>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32435" y="5524500"/>
            <a:ext cx="111817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我们提出面向 </a:t>
            </a:r>
            <a:r>
              <a:rPr lang="en-US" altLang="zh-CN" sz="2000"/>
              <a:t>FPGA </a:t>
            </a:r>
            <a:r>
              <a:rPr lang="zh-CN" altLang="en-US" sz="2000"/>
              <a:t>硅前原型的软件定义真实外设访问方法，通过设备交互与物理实现、控制通路与数据通路的双重解耦，将 </a:t>
            </a:r>
            <a:r>
              <a:rPr lang="en-US" altLang="zh-CN" sz="2000"/>
              <a:t>DUT </a:t>
            </a:r>
            <a:r>
              <a:rPr lang="zh-CN" altLang="en-US" sz="2000"/>
              <a:t>与真实外设之间的接入关系转化为软件可配置的映射。在保留真实设备执行的同时，支持本地与远端外设的灵活接入和组合，拓展 </a:t>
            </a:r>
            <a:r>
              <a:rPr lang="en-US" altLang="zh-CN" sz="2000"/>
              <a:t>FPGA </a:t>
            </a:r>
            <a:r>
              <a:rPr lang="zh-CN" altLang="en-US" sz="2000"/>
              <a:t>原型的系统级验证场景。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hatGPT Image 2026年9月16日 16_50_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5" y="565150"/>
            <a:ext cx="10579100" cy="59543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2250" y="187960"/>
            <a:ext cx="3175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Architecture Overview</a:t>
            </a:r>
          </a:p>
        </p:txBody>
      </p:sp>
      <p:pic>
        <p:nvPicPr>
          <p:cNvPr id="2" name="图片 1" descr="ChatGPT Image 2026年9月17日 09_40_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895350"/>
            <a:ext cx="115824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6725" y="311785"/>
            <a:ext cx="522541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/>
              <a:t>Logical Topology Configuration  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725" y="1247140"/>
            <a:ext cx="399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Topology Specification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6725" y="2151380"/>
            <a:ext cx="8399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定义固定的虚拟 </a:t>
            </a:r>
            <a:r>
              <a:rPr lang="en-US" altLang="zh-CN" sz="2000"/>
              <a:t>PCIe </a:t>
            </a:r>
            <a:r>
              <a:rPr lang="zh-CN" altLang="en-US" sz="2000"/>
              <a:t>层次、</a:t>
            </a:r>
            <a:r>
              <a:rPr lang="zh-CN" altLang="en-US" sz="2000">
                <a:sym typeface="+mn-ea"/>
              </a:rPr>
              <a:t>决定每个逻辑 </a:t>
            </a:r>
            <a:r>
              <a:rPr lang="en-US" altLang="zh-CN" sz="2000">
                <a:sym typeface="+mn-ea"/>
              </a:rPr>
              <a:t>Endpoint </a:t>
            </a:r>
            <a:r>
              <a:rPr lang="zh-CN" altLang="en-US" sz="2000">
                <a:sym typeface="+mn-ea"/>
              </a:rPr>
              <a:t>后面对应什么设备</a:t>
            </a:r>
            <a:endParaRPr lang="en-US" altLang="zh-CN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565" y="349250"/>
            <a:ext cx="60674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Configuration-Space Virtualization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6565" y="1296670"/>
            <a:ext cx="60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Configuration Image Construction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565" y="3067685"/>
            <a:ext cx="493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 </a:t>
            </a:r>
            <a:r>
              <a:rPr lang="zh-CN" altLang="en-US" sz="2400"/>
              <a:t>前端：</a:t>
            </a:r>
            <a:r>
              <a:rPr lang="en-US" altLang="zh-CN" sz="2400"/>
              <a:t>ECAM Access Mediation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6565" y="4838700"/>
            <a:ext cx="7366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2400"/>
              <a:t>③</a:t>
            </a:r>
            <a:r>
              <a:rPr lang="en-US" altLang="zh-CN" sz="2400"/>
              <a:t> </a:t>
            </a:r>
            <a:r>
              <a:rPr lang="zh-CN" altLang="en-US" sz="2400"/>
              <a:t>后端：</a:t>
            </a:r>
            <a:r>
              <a:rPr lang="en-US" altLang="zh-CN" sz="2400"/>
              <a:t>State Synchronization and Routing Coherence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6565" y="2212975"/>
            <a:ext cx="8954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为逻辑 </a:t>
            </a:r>
            <a:r>
              <a:rPr lang="en-US" altLang="zh-CN" sz="2000"/>
              <a:t>PCIe </a:t>
            </a:r>
            <a:r>
              <a:rPr lang="zh-CN" altLang="en-US" sz="2000"/>
              <a:t>节点构造符合设备/桥语义的配置空间镜像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6565" y="3983990"/>
            <a:ext cx="9782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前端模块在 </a:t>
            </a:r>
            <a:r>
              <a:rPr lang="en-US" altLang="zh-CN" sz="2000"/>
              <a:t>FPGA</a:t>
            </a:r>
            <a:r>
              <a:rPr lang="zh-CN" altLang="en-US" sz="2000"/>
              <a:t>上暴露标准 </a:t>
            </a:r>
            <a:r>
              <a:rPr lang="en-US" altLang="zh-CN" sz="2000"/>
              <a:t>ECAM，</a:t>
            </a:r>
            <a:r>
              <a:rPr lang="zh-CN" altLang="en-US" sz="2000"/>
              <a:t>并将对于配置空间的操作交给后端处理；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565" y="5755005"/>
            <a:ext cx="104692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针对前端传递的请求，在软件后端进行权威配置状态同步</a:t>
            </a:r>
            <a:r>
              <a:rPr lang="en-US" altLang="zh-CN" sz="2000"/>
              <a:t>，</a:t>
            </a:r>
            <a:r>
              <a:rPr lang="zh-CN" altLang="en-US" sz="2000">
                <a:sym typeface="+mn-ea"/>
              </a:rPr>
              <a:t>并维护</a:t>
            </a:r>
            <a:r>
              <a:rPr lang="en-US" altLang="zh-CN" sz="2000">
                <a:sym typeface="+mn-ea"/>
              </a:rPr>
              <a:t>FPGA</a:t>
            </a:r>
            <a:r>
              <a:rPr lang="zh-CN" altLang="en-US" sz="2000">
                <a:sym typeface="+mn-ea"/>
              </a:rPr>
              <a:t>上的配置空间</a:t>
            </a:r>
            <a:r>
              <a:rPr lang="en-US" altLang="zh-CN" sz="2000">
                <a:sym typeface="+mn-ea"/>
              </a:rPr>
              <a:t>cache</a:t>
            </a:r>
            <a:r>
              <a:rPr lang="zh-CN" altLang="en-US" sz="2000">
                <a:sym typeface="+mn-ea"/>
              </a:rPr>
              <a:t>，来实现处理器读取配置空间的加速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7040" y="2178685"/>
            <a:ext cx="9950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根据逻辑 </a:t>
            </a:r>
            <a:r>
              <a:rPr lang="en-US" altLang="zh-CN" sz="2000"/>
              <a:t>Endpoint </a:t>
            </a:r>
            <a:r>
              <a:rPr lang="zh-CN" altLang="en-US" sz="2000"/>
              <a:t>的身份，将 </a:t>
            </a:r>
            <a:r>
              <a:rPr lang="en-US" altLang="zh-CN" sz="2000"/>
              <a:t>DUT </a:t>
            </a:r>
            <a:r>
              <a:rPr lang="zh-CN" altLang="en-US" sz="2000"/>
              <a:t>发出的设备访问分派到对应的真实设备后端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7040" y="355600"/>
            <a:ext cx="43942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Endpoint Semantic Mediation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7040" y="12827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① Backend Dispatch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7040" y="3013075"/>
            <a:ext cx="10147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② Device-Specific Semantic Translation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7040" y="3909060"/>
            <a:ext cx="11080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解析原生驱动产生的设备操作，并按照具体设备协议解释其运行时控制语义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7040" y="4743450"/>
            <a:ext cx="9473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③ Control Response Mediation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7040" y="5639435"/>
            <a:ext cx="11226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将后端产生的寄存器读返回和控制访问响应映射回 </a:t>
            </a:r>
            <a:r>
              <a:rPr lang="en-US" altLang="zh-CN" sz="2000"/>
              <a:t>DUT，</a:t>
            </a:r>
            <a:r>
              <a:rPr lang="zh-CN" altLang="en-US" sz="2000"/>
              <a:t>完成运行时控制交互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3550" y="381000"/>
            <a:ext cx="39624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DMA Data-Path Integration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3550" y="13411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① DMA Reference Rewriting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3550" y="2270125"/>
            <a:ext cx="105086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将命令或描述符中的 </a:t>
            </a:r>
            <a:r>
              <a:rPr lang="en-US" altLang="zh-CN" sz="2000"/>
              <a:t>DUT DMA </a:t>
            </a:r>
            <a:r>
              <a:rPr lang="zh-CN" altLang="en-US" sz="2000"/>
              <a:t>地址重写为真实设备后端可访问的地址。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3550" y="3137535"/>
            <a:ext cx="8800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② Backend-Specific Data Transport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3550" y="4066540"/>
            <a:ext cx="10044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根据设备部署位置建立对应的本地或远程数据传输路径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3550" y="49339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③ DMA Completion Visibility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3550" y="5862955"/>
            <a:ext cx="105079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 </a:t>
            </a:r>
            <a:r>
              <a:rPr lang="en-US" altLang="zh-CN" sz="2000"/>
              <a:t>DMA </a:t>
            </a:r>
            <a:r>
              <a:rPr lang="zh-CN" altLang="en-US" sz="2000"/>
              <a:t>数据及内存侧完成状态正确呈现至 </a:t>
            </a:r>
            <a:r>
              <a:rPr lang="en-US" altLang="zh-CN" sz="2000"/>
              <a:t>DUT memory，</a:t>
            </a:r>
            <a:r>
              <a:rPr lang="zh-CN" altLang="en-US" sz="2000"/>
              <a:t>使原生驱动能够获取传输结果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150" y="260350"/>
            <a:ext cx="1929765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/>
              <a:t>Evaluation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1150" y="10115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Experimental Setup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1150" y="1732280"/>
            <a:ext cx="1139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介绍下系统搭在什么平台上、用了哪些真实设备、哪些是本地/远端、实验环境是什么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6700" y="2391410"/>
            <a:ext cx="8686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Functional Validation of Software-Defined Peripheral Access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1150" y="3112135"/>
            <a:ext cx="1139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1. </a:t>
            </a:r>
            <a:r>
              <a:rPr lang="zh-CN" altLang="en-US" sz="2000"/>
              <a:t>验证真实外设能否被 </a:t>
            </a:r>
            <a:r>
              <a:rPr lang="en-US" altLang="zh-CN" sz="2000"/>
              <a:t>DUT </a:t>
            </a:r>
            <a:r>
              <a:rPr lang="zh-CN" altLang="en-US" sz="2000"/>
              <a:t>侧 </a:t>
            </a:r>
            <a:r>
              <a:rPr lang="en-US" altLang="zh-CN" sz="2000"/>
              <a:t>Linux </a:t>
            </a:r>
            <a:r>
              <a:rPr lang="zh-CN" altLang="en-US" sz="2000"/>
              <a:t>正常枚举、绑定原生驱动，并完成基本功能访问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1150" y="4430395"/>
            <a:ext cx="107943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3. </a:t>
            </a:r>
            <a:r>
              <a:rPr lang="zh-CN" altLang="en-US" sz="2000"/>
              <a:t>验证当真实设备从本地 </a:t>
            </a:r>
            <a:r>
              <a:rPr lang="en-US" altLang="zh-CN" sz="2000"/>
              <a:t>Host A </a:t>
            </a:r>
            <a:r>
              <a:rPr lang="zh-CN" altLang="en-US" sz="2000"/>
              <a:t>移至远端 </a:t>
            </a:r>
            <a:r>
              <a:rPr lang="en-US" altLang="zh-CN" sz="2000"/>
              <a:t>Host B </a:t>
            </a:r>
            <a:r>
              <a:rPr lang="zh-CN" altLang="en-US" sz="2000"/>
              <a:t>后，</a:t>
            </a:r>
            <a:r>
              <a:rPr lang="en-US" altLang="zh-CN" sz="2000"/>
              <a:t>DUT </a:t>
            </a:r>
            <a:r>
              <a:rPr lang="zh-CN" altLang="en-US" sz="2000"/>
              <a:t>侧仍能保持相同的设备接口和软件使用方式。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11150" y="3771265"/>
            <a:ext cx="1079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 </a:t>
            </a:r>
            <a:r>
              <a:rPr lang="zh-CN" altLang="en-US" sz="2000"/>
              <a:t>通过 </a:t>
            </a:r>
            <a:r>
              <a:rPr lang="en-US" altLang="zh-CN" sz="2000"/>
              <a:t>NVMe、NIC、Vortex、FSA </a:t>
            </a:r>
            <a:r>
              <a:rPr lang="zh-CN" altLang="en-US" sz="2000"/>
              <a:t>等不同类别设备，验证该机制并非针对单一设备类型。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11150" y="5397500"/>
            <a:ext cx="113284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4. </a:t>
            </a:r>
            <a:r>
              <a:rPr lang="zh-CN" altLang="en-US" sz="2000"/>
              <a:t>在保持 </a:t>
            </a:r>
            <a:r>
              <a:rPr lang="en-US" altLang="zh-CN" sz="2000"/>
              <a:t>DUT RTL、FPGA bitstream </a:t>
            </a:r>
            <a:r>
              <a:rPr lang="zh-CN" altLang="en-US" sz="2000"/>
              <a:t>和 </a:t>
            </a:r>
            <a:r>
              <a:rPr lang="en-US" altLang="zh-CN" sz="2000"/>
              <a:t>Linux </a:t>
            </a:r>
            <a:r>
              <a:rPr lang="zh-CN" altLang="en-US" sz="2000"/>
              <a:t>软件栈不变的情况下，仅修改软件配置，构造不同的真实外设组合并验证其正常工作。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2900" y="330200"/>
            <a:ext cx="10763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③</a:t>
            </a:r>
            <a:r>
              <a:rPr lang="en-US" altLang="zh-CN" sz="2400"/>
              <a:t>Control-Path Overhead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2900" y="1172845"/>
            <a:ext cx="7416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板载</a:t>
            </a:r>
            <a:r>
              <a:rPr lang="en-US" altLang="zh-CN" sz="2000"/>
              <a:t>--&gt;HOST--&gt;</a:t>
            </a:r>
            <a:r>
              <a:rPr lang="zh-CN" altLang="en-US" sz="2000"/>
              <a:t>远端</a:t>
            </a:r>
            <a:br>
              <a:rPr lang="zh-CN" altLang="en-US" sz="2000"/>
            </a:br>
            <a:r>
              <a:rPr lang="en-US" altLang="zh-CN" sz="2000"/>
              <a:t>Basic MMIO Mediation Latency</a:t>
            </a:r>
            <a:br>
              <a:rPr lang="en-US" altLang="zh-CN" sz="2000"/>
            </a:br>
            <a:r>
              <a:rPr lang="en-US" altLang="zh-CN" sz="2000"/>
              <a:t>Device-Specific Runtime Control Latency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42900" y="2569845"/>
            <a:ext cx="3443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④</a:t>
            </a:r>
            <a:r>
              <a:rPr lang="en-US" altLang="zh-CN" sz="2400"/>
              <a:t>Data-Path Performance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2900" y="3412490"/>
            <a:ext cx="6363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1. </a:t>
            </a:r>
            <a:r>
              <a:rPr lang="zh-CN" altLang="en-US" sz="2000"/>
              <a:t>先选几个最典型的 </a:t>
            </a:r>
            <a:r>
              <a:rPr lang="en-US" altLang="zh-CN" sz="2000"/>
              <a:t>workload，</a:t>
            </a:r>
            <a:r>
              <a:rPr lang="zh-CN" altLang="en-US" sz="2000"/>
              <a:t>做三种位置的直接对比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2900" y="4193540"/>
            <a:ext cx="8907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 </a:t>
            </a:r>
            <a:r>
              <a:rPr lang="zh-CN" altLang="en-US" sz="2000"/>
              <a:t>这种性能差异会不会随着单次传输大小变化而变化，画曲线图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759065" y="3804285"/>
            <a:ext cx="39154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Block Size   On-board   Host-A   Host-B</a:t>
            </a:r>
          </a:p>
          <a:p>
            <a:r>
              <a:rPr lang="en-US" altLang="zh-CN"/>
              <a:t>4K</a:t>
            </a:r>
          </a:p>
          <a:p>
            <a:r>
              <a:rPr lang="en-US" altLang="zh-CN"/>
              <a:t>16K</a:t>
            </a:r>
          </a:p>
          <a:p>
            <a:r>
              <a:rPr lang="en-US" altLang="zh-CN"/>
              <a:t>64K</a:t>
            </a:r>
          </a:p>
          <a:p>
            <a:r>
              <a:rPr lang="en-US" altLang="zh-CN"/>
              <a:t>128K</a:t>
            </a:r>
          </a:p>
          <a:p>
            <a:r>
              <a:rPr lang="en-US" altLang="zh-CN"/>
              <a:t>256K</a:t>
            </a:r>
          </a:p>
          <a:p>
            <a:r>
              <a:rPr lang="en-US" altLang="zh-CN"/>
              <a:t>1M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2900" y="49745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⑤</a:t>
            </a:r>
            <a:r>
              <a:rPr lang="en-US" altLang="zh-CN" sz="2400"/>
              <a:t>Fault Injection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42900" y="5817235"/>
            <a:ext cx="713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⑥</a:t>
            </a:r>
            <a:r>
              <a:rPr lang="en-US" altLang="zh-CN" sz="2400"/>
              <a:t>Hardware Resource and Timing Overhead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9105" y="302895"/>
            <a:ext cx="17233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Discussion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9105" y="1303020"/>
            <a:ext cx="56267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①</a:t>
            </a:r>
            <a:r>
              <a:rPr lang="en-US" altLang="zh-CN" sz="2000"/>
              <a:t>Validation Scope and Fidelity Boundary</a:t>
            </a:r>
          </a:p>
          <a:p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459105" y="2518410"/>
            <a:ext cx="28047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②</a:t>
            </a:r>
            <a:r>
              <a:rPr lang="en-US" altLang="zh-CN" sz="2000"/>
              <a:t>Device Extensibility</a:t>
            </a:r>
          </a:p>
          <a:p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459105" y="4641215"/>
            <a:ext cx="2124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/>
              <a:t>Related Work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9105" y="37338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③</a:t>
            </a:r>
            <a:r>
              <a:rPr lang="en-US" altLang="zh-CN" sz="2000"/>
              <a:t>Future Extensions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9105" y="5610225"/>
            <a:ext cx="161988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onclusion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NEW_CREAT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205"/>
  <p:tag name="TABLE_ENDDRAG_RECT" val="73*109*742*2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5*449"/>
  <p:tag name="TABLE_ENDDRAG_RECT" val="94*77*755*4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205"/>
  <p:tag name="TABLE_ENDDRAG_RECT" val="73*109*742*20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205"/>
  <p:tag name="TABLE_ENDDRAG_RECT" val="73*109*742*20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5*449"/>
  <p:tag name="TABLE_ENDDRAG_RECT" val="94*77*755*44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5*449"/>
  <p:tag name="TABLE_ENDDRAG_RECT" val="94*77*755*4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45,&quot;left&quot;:34.05,&quot;top&quot;:109.45,&quot;width&quot;:900.6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9,&quot;left&quot;:27,&quot;top&quot;:26,&quot;width&quot;:847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9,&quot;left&quot;:27,&quot;top&quot;:26,&quot;width&quot;:847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2686</Words>
  <Application>Microsoft Office PowerPoint</Application>
  <PresentationFormat>宽屏</PresentationFormat>
  <Paragraphs>315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-apple-system</vt:lpstr>
      <vt:lpstr>微软雅黑</vt:lpstr>
      <vt:lpstr>Arial</vt:lpstr>
      <vt:lpstr>Calibri</vt:lpstr>
      <vt:lpstr>WPS</vt:lpstr>
      <vt:lpstr>2026/8/14  马翔宇 袁致豪</vt:lpstr>
      <vt:lpstr>2026/8/21</vt:lpstr>
      <vt:lpstr>2026/8/28</vt:lpstr>
      <vt:lpstr>2026/9/4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maxiangyu</dc:creator>
  <cp:lastModifiedBy>ray y</cp:lastModifiedBy>
  <cp:revision>77</cp:revision>
  <dcterms:created xsi:type="dcterms:W3CDTF">2023-08-09T12:44:00Z</dcterms:created>
  <dcterms:modified xsi:type="dcterms:W3CDTF">2026-09-17T07:16:52Z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6D4FEEAAF4DC4CBEB2E53B340C61F826_12</vt:lpwstr>
  </property>
</Properties>
</file>